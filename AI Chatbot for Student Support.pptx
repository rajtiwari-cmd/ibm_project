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643" y="2044154"/>
            <a:ext cx="2652712" cy="34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67746" y="2615654"/>
            <a:ext cx="7056506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FFFFF"/>
                </a:solidFill>
                <a:latin typeface="Space Grotesk"/>
              </a:rPr>
              <a:t>AI Chatbots for Student</a:t>
            </a:r>
            <a:r>
              <a:t>
</a:t>
            </a:r>
            <a:r>
              <a:rPr b="1" sz="4800" i="0" u="none">
                <a:solidFill>
                  <a:srgbClr val="FFFFFF"/>
                </a:solidFill>
                <a:latin typeface="Space Grotesk"/>
              </a:rPr>
              <a:t> Support &amp;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0750" y="4185195"/>
            <a:ext cx="7810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Transforming campus inquiries into instant, personalized, 24/7 engagement through conversational intelligence.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0618" y="2158454"/>
            <a:ext cx="185737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15893" y="3018978"/>
            <a:ext cx="6760063" cy="591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b="1" sz="4050" i="0" u="none">
                <a:solidFill>
                  <a:srgbClr val="FFFFFF"/>
                </a:solidFill>
                <a:latin typeface="Space Grotesk"/>
              </a:rPr>
              <a:t>The Student Support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7000" y="3800921"/>
            <a:ext cx="685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Traditional university helpdesks face growing inquiry volumes, fragmented departmental knowledge, and off-hour response bottlenecks.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835771"/>
            <a:ext cx="5324475" cy="19103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835771"/>
            <a:ext cx="5324475" cy="19103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178671"/>
            <a:ext cx="4870608" cy="295275"/>
          </a:xfrm>
          <a:prstGeom prst="rect">
            <a:avLst/>
          </a:prstGeom>
          <a:noFill/>
        </p:spPr>
        <p:txBody>
          <a:bodyPr wrap="square" lIns="262235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818CF8"/>
                </a:solidFill>
                <a:latin typeface="Space Grotesk"/>
              </a:rPr>
              <a:t>Legacy University Desk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626346"/>
            <a:ext cx="4638675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Limited operating hours lead to long email wait queues. Administrative staff burn out repeating answers to routine queries regarding tuition, registration, and deadlines.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78671"/>
            <a:ext cx="4870608" cy="295275"/>
          </a:xfrm>
          <a:prstGeom prst="rect">
            <a:avLst/>
          </a:prstGeom>
          <a:noFill/>
        </p:spPr>
        <p:txBody>
          <a:bodyPr wrap="square" lIns="29081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818CF8"/>
                </a:solidFill>
                <a:latin typeface="Space Grotesk"/>
              </a:rPr>
              <a:t>AI Conversational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626346"/>
            <a:ext cx="4638675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Instant 24/7 multi-channel responses across web, mobile app, and SMS. Seamless escalation routes complex empathetic cases directly to human advisors.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3207246"/>
            <a:ext cx="16698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207246"/>
            <a:ext cx="19556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Traditional vs. AI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81200"/>
            <a:ext cx="53244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7725" y="1981200"/>
            <a:ext cx="50577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F8FAFC"/>
                </a:solidFill>
                <a:latin typeface="Plus Jakarta Sans"/>
              </a:rPr>
              <a:t>24/7 Instant Inquiry Resolution: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Resolves standard queries about financial aid, campus housing, and course schedules in seconds.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725" y="2651521"/>
            <a:ext cx="50577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F8FAFC"/>
                </a:solidFill>
                <a:latin typeface="Plus Jakarta Sans"/>
              </a:rPr>
              <a:t>Multi-Language Support: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Automatically translates conversations to assist international and ESL students.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321843"/>
            <a:ext cx="50577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F8FAFC"/>
                </a:solidFill>
                <a:latin typeface="Plus Jakarta Sans"/>
              </a:rPr>
              <a:t>System Integration: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Connects directly with SIS, LMS (Canvas/Blackboard), and CRM databases securely.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992165"/>
            <a:ext cx="50577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F8FAFC"/>
                </a:solidFill>
                <a:latin typeface="Plus Jakarta Sans"/>
              </a:rPr>
              <a:t>Context-Aware Guidance: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Delivers hyper-personalized answers based on the student's program and standing.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990725"/>
            <a:ext cx="5305425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Core Chatbot Capabilities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000250"/>
            <a:ext cx="12382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670571"/>
            <a:ext cx="12382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340893"/>
            <a:ext cx="12382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1215"/>
            <a:ext cx="1238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25303"/>
            <a:ext cx="3524250" cy="27312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425303"/>
            <a:ext cx="3524250" cy="27312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425303"/>
            <a:ext cx="3524250" cy="273129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720578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3444478"/>
            <a:ext cx="308038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Space Grotesk"/>
              </a:rPr>
              <a:t>Admissions &amp; Aid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25478"/>
            <a:ext cx="2933700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Guides prospective students through application steps, financial aid documents, scholarship deadlines, and tuition payment plans.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9150" y="2720578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9150" y="3444478"/>
            <a:ext cx="308038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Space Grotesk"/>
              </a:rPr>
              <a:t>Academic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9150" y="3825478"/>
            <a:ext cx="2933700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Assists with course registration, advisor scheduling, tutoring appointments, and syllabus knowledge retrieval.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0" y="2720578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2000" y="3444478"/>
            <a:ext cx="308038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Space Grotesk"/>
              </a:rPr>
              <a:t>Campus Life &amp;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0" y="3825478"/>
            <a:ext cx="2933700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Answers housing requests, campus navigation, IT password resets, health services info, and facility operating hours.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125" y="2872978"/>
            <a:ext cx="2857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95837" y="2872978"/>
            <a:ext cx="20002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34400" y="2872978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Key Institutional Use Cases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95575"/>
            <a:ext cx="5324475" cy="2190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5" y="3086100"/>
            <a:ext cx="2047875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1" sz="8250" i="0" u="none">
                <a:solidFill>
                  <a:srgbClr val="10B981"/>
                </a:solidFill>
                <a:latin typeface="Space Grotesk"/>
              </a:rPr>
              <a:t>85%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7375" y="4229100"/>
            <a:ext cx="27717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F8FAFC"/>
                </a:solidFill>
                <a:latin typeface="Plus Jakarta Sans SemiBold"/>
              </a:rPr>
              <a:t>Routine Queries Automated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695575"/>
            <a:ext cx="5590698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FFFFFF"/>
                </a:solidFill>
                <a:latin typeface="Space Grotesk"/>
              </a:rPr>
              <a:t>Measurable Institutional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2914650"/>
            <a:ext cx="5324475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Deploying AI student support chatbots reduces helpdesk operational costs while increasing student satisfaction scores. Institutions see up to a 60% boost in overall student engagement and significantly reduced administrative backlog during peak enrollment periods.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Impact &amp; Performance Metrics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09675"/>
            <a:ext cx="11029950" cy="516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32582" y="4823519"/>
            <a:ext cx="992683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1" u="none">
                <a:solidFill>
                  <a:srgbClr val="94A3B8"/>
                </a:solidFill>
                <a:latin typeface="Plus Jakarta Sans"/>
              </a:rPr>
              <a:t>AI chatbots drastically cut down response latency from hours to milliseconds, enabling instant student relief and reducing administrative friction.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Response Time &amp; Resolution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771900"/>
            <a:ext cx="11029950" cy="38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057650"/>
            <a:ext cx="2536775" cy="147042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2033" y="2240458"/>
            <a:ext cx="2536775" cy="128379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3042" y="4057650"/>
            <a:ext cx="2536775" cy="147042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4050" y="2240458"/>
            <a:ext cx="2536775" cy="12837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7631" y="4257675"/>
            <a:ext cx="2243561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818CF8"/>
                </a:solidFill>
                <a:latin typeface="Space Grotesk"/>
              </a:rPr>
              <a:t>Phase 1: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4581525"/>
            <a:ext cx="2136725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Aggregate institutional knowledge bases, campus FAQs, and identify key integration endpoints.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8640" y="2440483"/>
            <a:ext cx="2243561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818CF8"/>
                </a:solidFill>
                <a:latin typeface="Space Grotesk"/>
              </a:rPr>
              <a:t>Phase 2: 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2058" y="2764333"/>
            <a:ext cx="2136725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Configure RAG &amp; LLM parameters using university regulations, policies, and tone guidelines.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9649" y="4257675"/>
            <a:ext cx="2243561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818CF8"/>
                </a:solidFill>
                <a:latin typeface="Space Grotesk"/>
              </a:rPr>
              <a:t>Phase 3: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067" y="4581525"/>
            <a:ext cx="2136725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Launch targeted pilot for high-demand areas like Admissions or Financial Aid before full deployment.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0657" y="2440483"/>
            <a:ext cx="2243561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818CF8"/>
                </a:solidFill>
                <a:latin typeface="Space Grotesk"/>
              </a:rPr>
              <a:t>Phase 4: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4075" y="2764333"/>
            <a:ext cx="2136725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Roll out across all university departments with continuous analytics and feedback loops.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Implementation Roadmap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744637" y="36861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5646" y="36861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06654" y="36861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37663" y="36861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5540692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Proactive Student Success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1025" y="10191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1025" y="2991147"/>
            <a:ext cx="52768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Beyond answering inbound queries, generative AI chatbots utilize predictive analytics to trigger timely nudges for upcoming tuition deadlines, advising milestones, and class registration dates.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3920430"/>
            <a:ext cx="52768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This proactive engagement helps institutions boost retention rates and ensure early interventions for at-risk students.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13694"/>
            <a:ext cx="11029950" cy="275451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0550" y="2423219"/>
            <a:ext cx="11010900" cy="2735460"/>
          </a:xfrm>
          <a:prstGeom prst="roundRect">
            <a:avLst>
              <a:gd name="adj" fmla="val 0"/>
            </a:avLst>
          </a:prstGeom>
          <a:solidFill>
            <a:srgbClr val="131B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0550" y="2423219"/>
          <a:ext cx="11010898" cy="2735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206353"/>
                <a:gridCol w="2333029"/>
                <a:gridCol w="2333029"/>
                <a:gridCol w="3138487"/>
              </a:tblGrid>
              <a:tr h="547092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8FAFC"/>
                          </a:solidFill>
                          <a:latin typeface="Space Grotesk"/>
                        </a:rPr>
                        <a:t>Feature Dimension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8FAFC"/>
                          </a:solidFill>
                          <a:latin typeface="Space Grotesk"/>
                        </a:rPr>
                        <a:t>Static Web FAQ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8FAFC"/>
                          </a:solidFill>
                          <a:latin typeface="Space Grotesk"/>
                        </a:rPr>
                        <a:t>Rule-Based Bot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8FAFC"/>
                          </a:solidFill>
                          <a:latin typeface="Space Grotesk"/>
                        </a:rPr>
                        <a:t>AI GenAI Chatbot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47092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Availability &amp; Speed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24/7 (Self Service)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24/7 (Instant)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24/7 (Instant &amp; Adaptive)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7092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Contextual Understanding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None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Keywords Only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Deep Natural Language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7092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Personalized Data Access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Rare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Integrated (SIS/LMS)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7092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Proactive Student Nudges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Automated Alerts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90550" y="2982217"/>
            <a:ext cx="32063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96903" y="2982217"/>
            <a:ext cx="23330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9932" y="2982217"/>
            <a:ext cx="23330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62962" y="2982217"/>
            <a:ext cx="31384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0550" y="3525142"/>
            <a:ext cx="32063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96903" y="3525142"/>
            <a:ext cx="23330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9932" y="3525142"/>
            <a:ext cx="23330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62962" y="3525142"/>
            <a:ext cx="31384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0550" y="4068067"/>
            <a:ext cx="32063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96903" y="4068067"/>
            <a:ext cx="23330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9932" y="4068067"/>
            <a:ext cx="23330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62962" y="4068067"/>
            <a:ext cx="31384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0550" y="4610992"/>
            <a:ext cx="32063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6903" y="4610992"/>
            <a:ext cx="23330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9932" y="4610992"/>
            <a:ext cx="23330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62962" y="4610992"/>
            <a:ext cx="31384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6453" y="3739455"/>
            <a:ext cx="104775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2512" y="4282380"/>
            <a:ext cx="123825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6453" y="4282380"/>
            <a:ext cx="104775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2512" y="3739455"/>
            <a:ext cx="123825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482" y="4825305"/>
            <a:ext cx="104775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2512" y="4825305"/>
            <a:ext cx="123825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6453" y="4825305"/>
            <a:ext cx="10477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482" y="4282380"/>
            <a:ext cx="104775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9482" y="3739455"/>
            <a:ext cx="142875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6453" y="3739455"/>
            <a:ext cx="104775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9482" y="3739455"/>
            <a:ext cx="142875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2512" y="3739455"/>
            <a:ext cx="123825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6453" y="4282380"/>
            <a:ext cx="104775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482" y="4282380"/>
            <a:ext cx="104775" cy="1428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2512" y="4282380"/>
            <a:ext cx="123825" cy="1428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6453" y="4825305"/>
            <a:ext cx="104775" cy="1428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482" y="4825305"/>
            <a:ext cx="104775" cy="1428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2512" y="4825305"/>
            <a:ext cx="123825" cy="14287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Platform Feature Matrix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89211" y="2778621"/>
            <a:ext cx="8613427" cy="1519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b="0" sz="2850" i="0" u="none">
                <a:solidFill>
                  <a:srgbClr val="F8FAFC"/>
                </a:solidFill>
                <a:latin typeface="Space Grotesk Medium"/>
              </a:rPr>
              <a:t>AI empowers institutions to convert reactive administrative support into a proactive, personalized student success engine.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57526" y="4565153"/>
            <a:ext cx="36766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10B981"/>
                </a:solidFill>
                <a:latin typeface="Plus Jakarta Sans SemiBold"/>
              </a:rPr>
              <a:t>— Higher Education Technology Council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2961" y="2588121"/>
            <a:ext cx="400050" cy="1095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50"/>
              </a:lnSpc>
            </a:pPr>
            <a:r>
              <a:rPr b="0" sz="6750" i="0" u="none">
                <a:solidFill>
                  <a:srgbClr val="6366F1"/>
                </a:solidFill>
                <a:latin typeface="Space Grotesk Medium"/>
              </a:rP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8840" y="3574553"/>
            <a:ext cx="400050" cy="1095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50"/>
              </a:lnSpc>
            </a:pPr>
            <a:r>
              <a:rPr b="0" sz="6750" i="0" u="none">
                <a:solidFill>
                  <a:srgbClr val="6366F1"/>
                </a:solidFill>
                <a:latin typeface="Space Grotesk Medium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Transforming Engagement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5276" y="485775"/>
            <a:ext cx="11581447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FFFFFF"/>
                </a:solidFill>
                <a:latin typeface="Space Grotesk"/>
              </a:rPr>
              <a:t>Questions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1552575"/>
            <a:ext cx="110299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Ready to modernize student services at your university?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306835"/>
            <a:ext cx="19050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2306835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566987" y="3010941"/>
            <a:ext cx="705802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6987" y="3786187"/>
            <a:ext cx="70580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6987" y="3786187"/>
            <a:ext cx="70580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987" y="316036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62362" y="3153816"/>
            <a:ext cx="596265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https://edutech.global/wp-content/uploads/2025/09/BLOG-25_HERO-IMAGE.png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62362" y="3399532"/>
            <a:ext cx="59626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edutech.global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6987" y="394513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62362" y="3938587"/>
            <a:ext cx="596265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https://wellfleetstudent.com/wp-content/uploads/2023/11/AdobeStock_536953236_resize-1.png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2362" y="4184302"/>
            <a:ext cx="59626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wellfleetstudent.com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Image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